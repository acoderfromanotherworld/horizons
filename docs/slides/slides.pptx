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03420"/>
            <a:ext cx="411480" cy="6400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377440"/>
            <a:ext cx="8321040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</a:rPr>
              <a:t>CSE 3200: System Development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4338CA"/>
                </a:solidFill>
              </a:rPr>
              <a:t>HORIZONS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293B"/>
                </a:solidFill>
              </a:rPr>
              <a:t>A Serious Game for Autism Spectrum Disorder Pre-Screening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</a:rPr>
              <a:t>Md. Shifat Hasan  (Roll: 2107067)   &amp;   Abu Hasanat Soykot  (Roll: 2107100)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75569"/>
                </a:solidFill>
              </a:rPr>
              <a:t>Supervisor: Dr. Md. Aminul Haque Akhand, Professor, Dept. of CSE, KUET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Department of Computer Science and Engineering
Khulna University of Engineering &amp; Technology, Khulna 9203, Bangladesh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22293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Outline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896112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1.  The Problem — ASD screening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280160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2.  State of the Art &amp; Research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664208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3.  Horizons — What We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048256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4.  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432304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5.  Game Design: 6 Chapters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0308" y="896112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6.  Scoring Engine &amp; Red-Flag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0308" y="1280160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7.  Implementation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0308" y="1664208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8.  Ethical Guardrails &amp;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0308" y="2048256"/>
            <a:ext cx="41650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E293B"/>
                </a:solidFill>
              </a:rPr>
              <a:t>9.  Conclusion &amp; Future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0580" y="822960"/>
            <a:ext cx="22860" cy="3735324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The Problem — ASD Screening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2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68680"/>
            <a:ext cx="2331720" cy="987552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960120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 i="0">
                <a:solidFill>
                  <a:srgbClr val="1E1B4B"/>
                </a:solidFill>
              </a:rPr>
              <a:t>1 in 36 children
(USA)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56362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75569"/>
                </a:solidFill>
              </a:rPr>
              <a:t>Maenner et al., 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6936" y="868680"/>
            <a:ext cx="2331720" cy="987552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960120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 i="0">
                <a:solidFill>
                  <a:srgbClr val="1E1B4B"/>
                </a:solidFill>
              </a:rPr>
              <a:t>1–2% of children
globally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156362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75569"/>
                </a:solidFill>
              </a:rPr>
              <a:t>Baxter et al., 2015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31536" y="868680"/>
            <a:ext cx="2331720" cy="987552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6" y="960120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 i="0">
                <a:solidFill>
                  <a:srgbClr val="1E1B4B"/>
                </a:solidFill>
              </a:rPr>
              <a:t>Avg. diagnosis
delay: 2–4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156362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75569"/>
                </a:solidFill>
              </a:rPr>
              <a:t>Under-resourced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2057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057400"/>
            <a:ext cx="8257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E293B"/>
                </a:solidFill>
              </a:rPr>
              <a:t>Gold standard: ADOS-2 — requires trained clinicians, controlled environment, and considerable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" y="256946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569464"/>
            <a:ext cx="8257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E293B"/>
                </a:solidFill>
              </a:rPr>
              <a:t>Caregiver questionnaires (M-CHAT-R/F) — practical but vulnerable to observer recall 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308152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081528"/>
            <a:ext cx="8257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E293B"/>
                </a:solidFill>
              </a:rPr>
              <a:t>Serious games emerged as a middle ground — but existing tools are narrow in age range,
  proprietary, install-required, or single-domain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3666744"/>
            <a:ext cx="8513064" cy="530352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730752"/>
            <a:ext cx="8238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783500"/>
                </a:solidFill>
              </a:rPr>
              <a:t>How can a browser-delivered serious game provide engaging experiences for children aged 3–10 and collect clinically meaningful, multi-domain ASD screening signals — without specialist equipment?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State of the Art &amp; Research Gaps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3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68680"/>
            <a:ext cx="1920240" cy="3383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923544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868680"/>
            <a:ext cx="1188720" cy="3383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8296" y="92354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EmoGalaxy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1296" y="868680"/>
            <a:ext cx="1188720" cy="3383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92354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DTT Game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0016" y="868680"/>
            <a:ext cx="1188720" cy="3383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92354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ADOS-2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736" y="868680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923544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</a:rPr>
              <a:t>Horizons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1207008"/>
            <a:ext cx="192024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1261872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Browser-based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22576" y="1207008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8296" y="126187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1296" y="1207008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7016" y="126187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0016" y="1207008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5736" y="126187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8736" y="1207008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1261872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" y="1545336"/>
            <a:ext cx="192024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" y="1600200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Multi-domain (all 4)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22576" y="1545336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8296" y="1600200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1545336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7016" y="1600200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0016" y="1545336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5736" y="1600200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8736" y="1545336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34456" y="1600200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" y="1883664"/>
            <a:ext cx="192024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" y="1938528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Age range 3–10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22576" y="1883664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68296" y="193852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6–14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1296" y="1883664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7016" y="193852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ASD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0016" y="1883664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45736" y="193852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2–16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8736" y="1883664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34456" y="1938528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3–10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" y="2221992"/>
            <a:ext cx="192024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" y="2276856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Automated scoring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22576" y="2221992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68296" y="227685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11296" y="2221992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57016" y="227685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0016" y="2221992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45736" y="227685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88736" y="2221992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34456" y="2276856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2336" y="2560320"/>
            <a:ext cx="192024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" y="2615184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Red-flag detection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22576" y="2560320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8296" y="261518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11296" y="2560320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57016" y="261518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0016" y="2560320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45736" y="261518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88736" y="2560320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34456" y="2615184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" y="2898648"/>
            <a:ext cx="192024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8056" y="2953512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Pointer heatmap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22576" y="2898648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68296" y="295351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11296" y="2898648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57016" y="295351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00016" y="2898648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45736" y="295351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888736" y="2898648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34456" y="2953512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36" y="3236976"/>
            <a:ext cx="192024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8056" y="3291840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Caregiver report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22576" y="3236976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68296" y="3291840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11296" y="3236976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57016" y="3291840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00016" y="3236976"/>
            <a:ext cx="1188720" cy="33832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45736" y="3291840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88736" y="3236976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34456" y="3291840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2336" y="3575304"/>
            <a:ext cx="192024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8056" y="3630168"/>
            <a:ext cx="1828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</a:rPr>
              <a:t>Open source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22576" y="3575304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68296" y="363016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11296" y="3575304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57016" y="363016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00016" y="3575304"/>
            <a:ext cx="1188720" cy="3383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45736" y="363016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88736" y="3575304"/>
            <a:ext cx="1234440" cy="33832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34456" y="3630168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38CA"/>
                </a:solidFill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336" y="4023360"/>
            <a:ext cx="8513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</a:rPr>
              <a:t>Horizons is the only entry simultaneously offering browser delivery, multi-domain coverage, red-flag detection, and a shareable caregiver report — while remaining fully open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Horizons — What We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4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22960"/>
            <a:ext cx="4142232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859536"/>
            <a:ext cx="3959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</a:rPr>
              <a:t>The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2070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2070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Browser-based serious game — no installation, no dedicated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16642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642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6 interconnected gameplay chapters, ages 3–10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1214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214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Covers all 4 ASD indicator domains (ADOS-2 / DSM-5 / M-CHAT-R/F)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25786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Records: response time · accuracy · pointer trajectory · break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0358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358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HMAC-SHA256 signed caregiver report at session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4930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930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Researcher dashboard: domain charts · heatmaps · CSV/JSON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3168" y="822960"/>
            <a:ext cx="4142232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859536"/>
            <a:ext cx="3959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</a:rPr>
              <a:t>What Makes It Novel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12070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12070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Only tool combining all four ADOS-2 / DSM-5 domains in one browser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6642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16642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Penalty scoring grounded in 3 independent peer-reviewed frameworks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1214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21214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5 automatic red-flag detectors with multiplicative severity weighting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5786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25786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Real-time audio synthesis via Tone.js — zero audio files shipped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30358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30358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312 automated tests — scoring, DB queries, API routes, full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49300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3493008"/>
            <a:ext cx="3904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Fully open source · deployable on Vercel free tier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822960"/>
            <a:ext cx="22860" cy="3735324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5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" y="932688"/>
            <a:ext cx="1920240" cy="1024128"/>
          </a:xfrm>
          <a:prstGeom prst="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4338CA"/>
                </a:solidFill>
              </a:rPr>
              <a:t>Browser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338CA"/>
                </a:solidFill>
              </a:rPr>
              <a:t>React · Zustand · Framer Motion · Tone.js · @dnd-kit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4580" y="13350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0612" y="932688"/>
            <a:ext cx="1920240" cy="1024128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052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47857"/>
                </a:solidFill>
              </a:rPr>
              <a:t>Application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052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47857"/>
                </a:solidFill>
              </a:rPr>
              <a:t>Next.js 15 App Router · Scoring Engine · Better Auth · HMAC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852" y="13350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6884" y="932688"/>
            <a:ext cx="1920240" cy="102412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8324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D97706"/>
                </a:solidFill>
              </a:rPr>
              <a:t>Data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324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97706"/>
                </a:solidFill>
              </a:rPr>
              <a:t>PostgreSQL via Neon · postgres.js · Auto-migration (schema.sql)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7124" y="13350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3156" y="932688"/>
            <a:ext cx="1920240" cy="1024128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4596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475569"/>
                </a:solidFill>
              </a:rPr>
              <a:t>External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4596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Vercel Hosting · Resend Email · Vercel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" y="2029968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</a:rPr>
              <a:t>HTTP/JSON · postgres.js / TLS · HTTPS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" y="2377440"/>
            <a:ext cx="8513064" cy="201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</a:rPr>
              <a:t>Data Collected Per Task: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2834640"/>
            <a:ext cx="162946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880360"/>
            <a:ext cx="15563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4338CA"/>
                </a:solidFill>
              </a:rPr>
              <a:t>Response time (ms)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1524" y="2834640"/>
            <a:ext cx="162946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8100" y="2880360"/>
            <a:ext cx="15563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4338CA"/>
                </a:solidFill>
              </a:rPr>
              <a:t>Selection accuracy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4137" y="2834640"/>
            <a:ext cx="162946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0713" y="2880360"/>
            <a:ext cx="15563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4338CA"/>
                </a:solidFill>
              </a:rPr>
              <a:t>Attempt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6750" y="2834640"/>
            <a:ext cx="162946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3326" y="2880360"/>
            <a:ext cx="15563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4338CA"/>
                </a:solidFill>
              </a:rPr>
              <a:t>Pointer trajectory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49363" y="2834640"/>
            <a:ext cx="162946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85939" y="2880360"/>
            <a:ext cx="15563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4338CA"/>
                </a:solidFill>
              </a:rPr>
              <a:t>Break frequency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Game Design — Six Gameplay Chapters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6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68680"/>
            <a:ext cx="59436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9144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868680"/>
            <a:ext cx="123444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9144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Chapter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1136" y="868680"/>
            <a:ext cx="169164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76856" y="9144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Domain (Weight)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22776" y="868680"/>
            <a:ext cx="3456432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8496" y="914400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Key Tasks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1216152"/>
            <a:ext cx="594360" cy="521207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1307592"/>
            <a:ext cx="5577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Ch.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" y="1216152"/>
            <a:ext cx="1234440" cy="521207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1289304"/>
            <a:ext cx="1124712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338CA"/>
                </a:solidFill>
              </a:rPr>
              <a:t>My World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31136" y="1216152"/>
            <a:ext cx="16916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1307592"/>
            <a:ext cx="1581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22776" y="1216152"/>
            <a:ext cx="3456432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1289304"/>
            <a:ext cx="3346704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Avatar setup · Name response · Joint attention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" y="1737359"/>
            <a:ext cx="594360" cy="52120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1828799"/>
            <a:ext cx="5577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Ch.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" y="1737359"/>
            <a:ext cx="1234440" cy="521207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1810511"/>
            <a:ext cx="1124712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Feeling World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31136" y="1737359"/>
            <a:ext cx="1691640" cy="521207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1828799"/>
            <a:ext cx="1581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Social Communication (40%)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22776" y="1737359"/>
            <a:ext cx="3456432" cy="521207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40" y="1810511"/>
            <a:ext cx="3346704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Emotion matching (drag-drop) · Expression mirror · Regulation scenarios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" y="2258566"/>
            <a:ext cx="594360" cy="521207"/>
          </a:xfrm>
          <a:prstGeom prst="rect">
            <a:avLst/>
          </a:prstGeom>
          <a:solidFill>
            <a:srgbClr val="1D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2350006"/>
            <a:ext cx="5577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Ch.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" y="2258566"/>
            <a:ext cx="1234440" cy="521207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2331718"/>
            <a:ext cx="1124712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6FBF"/>
                </a:solidFill>
              </a:rPr>
              <a:t>Social World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31136" y="2258566"/>
            <a:ext cx="16916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2350006"/>
            <a:ext cx="1581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Social Communication (40%)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22776" y="2258566"/>
            <a:ext cx="3456432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77640" y="2331718"/>
            <a:ext cx="3346704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Greeting · Conversation + ToM probe · Sharing · Imitation (Copy Cat)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" y="2779773"/>
            <a:ext cx="594360" cy="521207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2871213"/>
            <a:ext cx="5577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Ch. 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" y="2779773"/>
            <a:ext cx="1234440" cy="521207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2852925"/>
            <a:ext cx="1124712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47857"/>
                </a:solidFill>
              </a:rPr>
              <a:t>Routine &amp; Patterns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31136" y="2779773"/>
            <a:ext cx="1691640" cy="521207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2871213"/>
            <a:ext cx="1581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Restricted/Repetitive (30%)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22776" y="2779773"/>
            <a:ext cx="3456432" cy="521207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40" y="2852925"/>
            <a:ext cx="3346704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Routine sequencing · Flexibility challenge · Pattern detective · Special interests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" y="3300980"/>
            <a:ext cx="594360" cy="521207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3392420"/>
            <a:ext cx="5577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Ch. 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6696" y="3300980"/>
            <a:ext cx="1234440" cy="521207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3374132"/>
            <a:ext cx="1124712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</a:rPr>
              <a:t>Pretend &amp; Senses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31136" y="3300980"/>
            <a:ext cx="16916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0" y="3392420"/>
            <a:ext cx="1581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Pretend Play (15%) + Sensory (15%)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22776" y="3300980"/>
            <a:ext cx="3456432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40" y="3374132"/>
            <a:ext cx="3346704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Pretend recognition · Create pretend world · Sensory explorer (Tone.js sounds)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" y="3822187"/>
            <a:ext cx="594360" cy="52120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624" y="3913627"/>
            <a:ext cx="5577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Ch. 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6" y="3822187"/>
            <a:ext cx="1234440" cy="521207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1560" y="3895339"/>
            <a:ext cx="1124712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Grand Finale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31136" y="3822187"/>
            <a:ext cx="1691640" cy="521207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0" y="3913627"/>
            <a:ext cx="1581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Consistency Check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22776" y="3822187"/>
            <a:ext cx="3456432" cy="521207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40" y="3895339"/>
            <a:ext cx="3346704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15 sampled tasks from Ch. 1–5 · Response consistency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Scoring Engine — Research-Grounded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7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22960"/>
            <a:ext cx="3246120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86868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Three Research Foundations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07008"/>
            <a:ext cx="3246120" cy="749808"/>
          </a:xfrm>
          <a:prstGeom prst="rect">
            <a:avLst/>
          </a:prstGeom>
          <a:solidFill>
            <a:srgbClr val="EEF2FF"/>
          </a:solidFill>
          <a:ln w="952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271016"/>
            <a:ext cx="3026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338CA"/>
                </a:solidFill>
              </a:rPr>
              <a:t>EmoGalaxy  (Irani et al., 2018)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1572768"/>
            <a:ext cx="3026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Task accuracy = correct_answers / total_moves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029968"/>
            <a:ext cx="3246120" cy="749808"/>
          </a:xfrm>
          <a:prstGeom prst="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093976"/>
            <a:ext cx="3026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47857"/>
                </a:solidFill>
              </a:rPr>
              <a:t>DTT Game  (Khowaja &amp; Salim, 2018)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395728"/>
            <a:ext cx="3026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Avg. attempts = Σ attempts / total_questions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2852928"/>
            <a:ext cx="3246120" cy="74980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916936"/>
            <a:ext cx="3026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ADOS-2  (Maddox et al., 2017)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218688"/>
            <a:ext cx="3026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Domain weighting: SC=0.40, RRB=0.30, PP=0.15, SP=0.15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77056" y="822960"/>
            <a:ext cx="5038344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868680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Combined Weighted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77056" y="1243584"/>
            <a:ext cx="5038344" cy="6583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6784" y="1353312"/>
            <a:ext cx="4818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1">
                <a:solidFill>
                  <a:srgbClr val="FFFFFF"/>
                </a:solidFill>
              </a:rPr>
              <a:t>S_combined = Σ  w_d · R_d  ×  min( Π m_f ,  2.0 )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1956816"/>
            <a:ext cx="5038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</a:rPr>
              <a:t>w_d = domain weight   ·   R_d = raw domain score   ·   m_f = red-flag multiplier (capped at 2.0×)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77056" y="2295144"/>
            <a:ext cx="178308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2340864"/>
            <a:ext cx="1709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0136" y="2295144"/>
            <a:ext cx="77724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34086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Chapters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7376" y="2295144"/>
            <a:ext cx="62179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2340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2295144"/>
            <a:ext cx="82296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234086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High Risk 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77056" y="2615184"/>
            <a:ext cx="178308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2" y="2670048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Social Communication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0136" y="2615184"/>
            <a:ext cx="77724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6712" y="2670048"/>
            <a:ext cx="704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2, 3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2615184"/>
            <a:ext cx="621792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267004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0.40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59168" y="2615184"/>
            <a:ext cx="82296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2670048"/>
            <a:ext cx="7498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46 pts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77056" y="2935224"/>
            <a:ext cx="1783080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632" y="2990088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Restricted / Repetitive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0136" y="2935224"/>
            <a:ext cx="777240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96712" y="2990088"/>
            <a:ext cx="704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7376" y="2935224"/>
            <a:ext cx="621792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299008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0.30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59168" y="2935224"/>
            <a:ext cx="822960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95744" y="2990088"/>
            <a:ext cx="7498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31 pts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77056" y="3255264"/>
            <a:ext cx="178308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13632" y="3310128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Pretend Play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0136" y="3255264"/>
            <a:ext cx="77724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96712" y="3310128"/>
            <a:ext cx="704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5 (L1–L2)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37376" y="3255264"/>
            <a:ext cx="621792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331012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0.15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3255264"/>
            <a:ext cx="82296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95744" y="3310128"/>
            <a:ext cx="7498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21 pts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77056" y="3575304"/>
            <a:ext cx="1783080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13632" y="3630168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Sensory Processing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0136" y="3575304"/>
            <a:ext cx="777240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6712" y="3630168"/>
            <a:ext cx="704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5 (L3)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37376" y="3575304"/>
            <a:ext cx="621792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2" y="363016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0.15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3575304"/>
            <a:ext cx="822960" cy="32004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3630168"/>
            <a:ext cx="7498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</a:rPr>
              <a:t>16 pts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39896" y="822960"/>
            <a:ext cx="22860" cy="3735324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Automated Red-Flag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822960"/>
            <a:ext cx="8513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</a:rPr>
              <a:t>Five clinically-grounded behavioural red flags trigger multiplicative severity adjustments.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225296"/>
            <a:ext cx="658368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335024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×1.20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0704" y="1225296"/>
            <a:ext cx="2011680" cy="62179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131673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3500"/>
                </a:solidFill>
              </a:rPr>
              <a:t>Negative Emotion Recognition &lt; 50%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2384" y="1225296"/>
            <a:ext cx="5843016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1280160"/>
            <a:ext cx="56601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Ch. 2 Level 1: accuracy on Sad + Scared cards below 50%
→ Heightened social-communication concern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1938528"/>
            <a:ext cx="658368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048256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×1.30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" y="1938528"/>
            <a:ext cx="2011680" cy="62179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2144" y="202996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3500"/>
                </a:solidFill>
              </a:rPr>
              <a:t>Complete Absence of Pretend Play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72384" y="1938528"/>
            <a:ext cx="5843016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63824" y="1993392"/>
            <a:ext cx="56601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Ch. 5 Level 1: all 5 pretend scenarios answered literally
→ Strongest single red-flag multiplier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2651760"/>
            <a:ext cx="658368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61488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×1.15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2651760"/>
            <a:ext cx="2011680" cy="62179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2743200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3500"/>
                </a:solidFill>
              </a:rPr>
              <a:t>Extreme Sensory Distress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72384" y="2651760"/>
            <a:ext cx="5843016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63824" y="2706624"/>
            <a:ext cx="56601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Ch. 5 Level 3: ≥ 4 of 6 Tone.js-synthesised sounds rated distressing
→ Atypical sensory reactivity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364992"/>
            <a:ext cx="658368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474720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×1.20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3364992"/>
            <a:ext cx="2011680" cy="62179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2144" y="345643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3500"/>
                </a:solidFill>
              </a:rPr>
              <a:t>Rigid Pattern Distress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72384" y="3364992"/>
            <a:ext cx="5843016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3824" y="3419856"/>
            <a:ext cx="56601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Ch. 4 Level 3: meltdown at forced error + insists on returning to original pattern
→ RRB indicator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" y="4078224"/>
            <a:ext cx="658368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187952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×1.25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" y="4078224"/>
            <a:ext cx="2011680" cy="62179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2144" y="416966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3500"/>
                </a:solidFill>
              </a:rPr>
              <a:t>Poor Imitation Across All Modalities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72384" y="4078224"/>
            <a:ext cx="5843016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3824" y="4133088"/>
            <a:ext cx="56601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Ch. 3 Level 4: ≥ 5 errors across facial, body, and object imitation tasks
→ Multi-modal imitation deficit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" y="4837176"/>
            <a:ext cx="8513064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4901184"/>
            <a:ext cx="8238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Multipliers stack multiplicatively and are capped at 2.0× to prevent extreme score inflation.  Each flag is independently verified by integration tests using simulated full-session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Implementation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9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22960"/>
            <a:ext cx="2025396" cy="8686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77824"/>
            <a:ext cx="19156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338CA"/>
                </a:solidFill>
              </a:rPr>
              <a:t>312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35024"/>
            <a:ext cx="19156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Automated tests
(all passing)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4892" y="822960"/>
            <a:ext cx="2025396" cy="8686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9756" y="877824"/>
            <a:ext cx="19156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338CA"/>
                </a:solidFill>
              </a:rPr>
              <a:t>5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9756" y="1335024"/>
            <a:ext cx="19156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Objectives
achieved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7448" y="822960"/>
            <a:ext cx="2025396" cy="8686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877824"/>
            <a:ext cx="19156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338CA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1335024"/>
            <a:ext cx="19156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Game chapters
implemented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90004" y="822960"/>
            <a:ext cx="2025396" cy="8686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4868" y="877824"/>
            <a:ext cx="19156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338CA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4868" y="1335024"/>
            <a:ext cx="19156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Red flags
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1856232"/>
            <a:ext cx="8513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</a:rPr>
              <a:t>All Objectives Delivered: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2167128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6712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Six gameplay chapters covering all four ADOS-2 / DSM-5 domains, deployed to Vercel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2624328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62432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Penalty-based scoring engine (EmoGalaxy + DTT + ADOS-2 formulae) with complete unit test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3081528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08152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Five red flags with multiplicative weighting — verified in integration tests with simulated session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2167128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216712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Researcher dashboard: Better Auth login · domain radar charts · pointer heatmaps · JSON/CSV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2624328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7857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262432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HMAC-SHA256 signed caregiver report tokens generated at session completion — correctness 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4210812"/>
            <a:ext cx="8513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Serverless PostgreSQL (Neon) · Zero audio files shipped (Tone.js synthesis at runtime) · Zero image files (emoji + CSS + SVG only)  ·  Production-deployed on Vercel free tier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Ethical Guardrails &amp; Societal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10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22960"/>
            <a:ext cx="3520440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8686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Built-in Ethical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2252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▸  Non-diagnostic disclaimer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4996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Shown on every results screen and caregiver report — this tool screens, not diagnoses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179222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▸  Data minimisation (GDPR-aligned)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0665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Session ID is the only permanent identifier; player name is an optional display label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35915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▸  No biometrics collected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633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No photos, video, voice recordings, or precise location data at any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2926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▸  HMAC-SHA256 signed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32004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Caregiver links are tamper-proof; unsigned tokens return an error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49300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▸  Safety: no flicker, no harsh audio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3767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Framer Motion &lt; 3 Hz (IEC 61966); Tone.js attenuated −12 dB / −6 dB in low/medium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1376" y="822960"/>
            <a:ext cx="4764024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868680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Societal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1376" y="1225296"/>
            <a:ext cx="4764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</a:rPr>
              <a:t>▸  Clinical pre-referral screening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1499616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Deploy on any browser device — HMAC report forwarded directly to the specialist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1792224"/>
            <a:ext cx="4764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</a:rPr>
              <a:t>▸  Telehealth-compatible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8536" y="2066544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Zero-install, zero-hardware — suitable where face-to-face assessment is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359152"/>
            <a:ext cx="4764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</a:rPr>
              <a:t>▸  Parental awareness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536" y="2633472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Domain-level risk summaries guide more informed referral conversations with physicians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1376" y="2926080"/>
            <a:ext cx="4764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</a:rPr>
              <a:t>▸  Population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3200400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Anonymous bulk export enables epidemiological studies where ADOS-2 is logistically impractical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14216" y="822960"/>
            <a:ext cx="22860" cy="3735324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73736" cy="6583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8872"/>
            <a:ext cx="85130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</a:rPr>
              <a:t>Conclusion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668012"/>
            <a:ext cx="173736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4750308"/>
            <a:ext cx="76901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50308"/>
            <a:ext cx="1051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A5B4FC"/>
                </a:solidFill>
              </a:rPr>
              <a:t>11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822960"/>
            <a:ext cx="3520440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8686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What We 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225296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225296"/>
            <a:ext cx="32826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First open-source, browser-based, multi-domain ASD serious game covering all four ADOS-2 / DSM-5 domains in a single 60–75 min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1755648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755648"/>
            <a:ext cx="32826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Research-grounded penalty scoring engine combining three independent peer-reviewed frameworks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2860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86000"/>
            <a:ext cx="32826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Automated red-flag detection with multiplicative severity weighting — verified by 312 automated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2816352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2"/>
            <a:ext cx="32826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Production-ready deployment: serverless PostgreSQL, zero static assets, free-tier Vercel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346704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32826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HMAC-signed caregiver report shareable without a researcher account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1376" y="822960"/>
            <a:ext cx="4764024" cy="3474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868680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Future Directions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1376" y="1225296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225296"/>
            <a:ext cx="4526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Large-scale clinical validation (200+ participants, diverse age / culture subgroups)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1755648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1755648"/>
            <a:ext cx="4526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ML-enhanced scoring — SVM / gradient-boosted classifier on game-response feature vectors, targeting ≥ 93% EmoGalaxy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860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286000"/>
            <a:ext cx="4526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Age-stratified norms — separate scoring coefficients for ages 3–5, 6–8, and 9–10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1376" y="2816352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816352"/>
            <a:ext cx="4526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Multilingual &amp; cultural adaptation — stimulus text and social scenarios for non-English populations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51376" y="3346704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346704"/>
            <a:ext cx="4526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Integration with referral workflows — HMAC report piped into clinic patient management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4216" y="822960"/>
            <a:ext cx="22860" cy="3735324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03420"/>
            <a:ext cx="411480" cy="6400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304288"/>
            <a:ext cx="8321040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4338CA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</a:rPr>
              <a:t>Md. Shifat Hasan (2107067)   ·   Abu Hasanat Soykot (2107100)
Supervisor: Dr. Md. Aminul Haque Akhand, Professor, Dept. of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Dept. of Computer Science and Engineering
Khulna University of Engineering &amp; Technology  ·  Khulna 9203, Bangladesh
April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63340"/>
            <a:ext cx="832104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45636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3500"/>
                </a:solidFill>
              </a:rPr>
              <a:t>Horizons is a screening guide only — it does not make a diagnosis. Always consult a qualified healthcare specialist.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22293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Horizons: A Serious Game for ASD Pre-Screening   |   Md. Shifat Hasan &amp; Abu Hasanat Soykot   |   KUET,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